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Agrandir Wide Heavy" charset="1" panose="00000A05000000000000"/>
      <p:regular r:id="rId11"/>
    </p:embeddedFont>
    <p:embeddedFont>
      <p:font typeface="Montserrat Medium" charset="1" panose="00000600000000000000"/>
      <p:regular r:id="rId12"/>
    </p:embeddedFont>
    <p:embeddedFont>
      <p:font typeface="Montserrat Classic Bold" charset="1" panose="00000800000000000000"/>
      <p:regular r:id="rId13"/>
    </p:embeddedFont>
    <p:embeddedFont>
      <p:font typeface="Montserrat" charset="1" panose="00000500000000000000"/>
      <p:regular r:id="rId14"/>
    </p:embeddedFont>
    <p:embeddedFont>
      <p:font typeface="Agrandir"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4087299" y="4481144"/>
            <a:ext cx="13989828" cy="11191863"/>
          </a:xfrm>
          <a:custGeom>
            <a:avLst/>
            <a:gdLst/>
            <a:ahLst/>
            <a:cxnLst/>
            <a:rect r="r" b="b" t="t" l="l"/>
            <a:pathLst>
              <a:path h="11191863" w="13989828">
                <a:moveTo>
                  <a:pt x="0" y="0"/>
                </a:moveTo>
                <a:lnTo>
                  <a:pt x="13989829" y="0"/>
                </a:lnTo>
                <a:lnTo>
                  <a:pt x="13989829" y="11191863"/>
                </a:lnTo>
                <a:lnTo>
                  <a:pt x="0" y="11191863"/>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950368" y="-1352550"/>
            <a:ext cx="9001125" cy="7200900"/>
          </a:xfrm>
          <a:custGeom>
            <a:avLst/>
            <a:gdLst/>
            <a:ahLst/>
            <a:cxnLst/>
            <a:rect r="r" b="b" t="t" l="l"/>
            <a:pathLst>
              <a:path h="7200900" w="9001125">
                <a:moveTo>
                  <a:pt x="0" y="0"/>
                </a:moveTo>
                <a:lnTo>
                  <a:pt x="9001125" y="0"/>
                </a:lnTo>
                <a:lnTo>
                  <a:pt x="9001125" y="7200900"/>
                </a:lnTo>
                <a:lnTo>
                  <a:pt x="0" y="7200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445250" y="3595376"/>
            <a:ext cx="13397501" cy="2643940"/>
          </a:xfrm>
          <a:prstGeom prst="rect">
            <a:avLst/>
          </a:prstGeom>
        </p:spPr>
        <p:txBody>
          <a:bodyPr anchor="t" rtlCol="false" tIns="0" lIns="0" bIns="0" rIns="0">
            <a:spAutoFit/>
          </a:bodyPr>
          <a:lstStyle/>
          <a:p>
            <a:pPr algn="ctr">
              <a:lnSpc>
                <a:spcPts val="18596"/>
              </a:lnSpc>
              <a:spcBef>
                <a:spcPct val="0"/>
              </a:spcBef>
            </a:pPr>
            <a:r>
              <a:rPr lang="en-US" sz="13282">
                <a:solidFill>
                  <a:srgbClr val="FFFFFF"/>
                </a:solidFill>
                <a:latin typeface="Agrandir Wide Heavy"/>
              </a:rPr>
              <a:t>Pravas:</a:t>
            </a:r>
          </a:p>
        </p:txBody>
      </p:sp>
      <p:sp>
        <p:nvSpPr>
          <p:cNvPr name="Freeform 6" id="6"/>
          <p:cNvSpPr/>
          <p:nvPr/>
        </p:nvSpPr>
        <p:spPr>
          <a:xfrm flipH="false" flipV="false" rot="0">
            <a:off x="15034210" y="5762625"/>
            <a:ext cx="9001125" cy="7200900"/>
          </a:xfrm>
          <a:custGeom>
            <a:avLst/>
            <a:gdLst/>
            <a:ahLst/>
            <a:cxnLst/>
            <a:rect r="r" b="b" t="t" l="l"/>
            <a:pathLst>
              <a:path h="7200900" w="9001125">
                <a:moveTo>
                  <a:pt x="0" y="0"/>
                </a:moveTo>
                <a:lnTo>
                  <a:pt x="9001125" y="0"/>
                </a:lnTo>
                <a:lnTo>
                  <a:pt x="9001125" y="7200900"/>
                </a:lnTo>
                <a:lnTo>
                  <a:pt x="0" y="7200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4430813" y="990600"/>
            <a:ext cx="3596361" cy="339724"/>
          </a:xfrm>
          <a:prstGeom prst="rect">
            <a:avLst/>
          </a:prstGeom>
        </p:spPr>
        <p:txBody>
          <a:bodyPr anchor="t" rtlCol="false" tIns="0" lIns="0" bIns="0" rIns="0">
            <a:spAutoFit/>
          </a:bodyPr>
          <a:lstStyle/>
          <a:p>
            <a:pPr algn="ctr">
              <a:lnSpc>
                <a:spcPts val="2800"/>
              </a:lnSpc>
              <a:spcBef>
                <a:spcPct val="0"/>
              </a:spcBef>
            </a:pPr>
            <a:r>
              <a:rPr lang="en-US" sz="2000">
                <a:solidFill>
                  <a:srgbClr val="FD5BA7"/>
                </a:solidFill>
                <a:latin typeface="Montserrat Medium"/>
              </a:rPr>
              <a:t>HACKERZ</a:t>
            </a:r>
          </a:p>
        </p:txBody>
      </p:sp>
      <p:sp>
        <p:nvSpPr>
          <p:cNvPr name="TextBox 8" id="8"/>
          <p:cNvSpPr txBox="true"/>
          <p:nvPr/>
        </p:nvSpPr>
        <p:spPr>
          <a:xfrm rot="0">
            <a:off x="9902530" y="990600"/>
            <a:ext cx="3596361" cy="339724"/>
          </a:xfrm>
          <a:prstGeom prst="rect">
            <a:avLst/>
          </a:prstGeom>
        </p:spPr>
        <p:txBody>
          <a:bodyPr anchor="t" rtlCol="false" tIns="0" lIns="0" bIns="0" rIns="0">
            <a:spAutoFit/>
          </a:bodyPr>
          <a:lstStyle/>
          <a:p>
            <a:pPr algn="ctr">
              <a:lnSpc>
                <a:spcPts val="2800"/>
              </a:lnSpc>
              <a:spcBef>
                <a:spcPct val="0"/>
              </a:spcBef>
            </a:pPr>
            <a:r>
              <a:rPr lang="en-US" sz="2000">
                <a:solidFill>
                  <a:srgbClr val="FD5BA7"/>
                </a:solidFill>
                <a:latin typeface="Montserrat Medium"/>
              </a:rPr>
              <a:t>@HACKERZ</a:t>
            </a:r>
          </a:p>
        </p:txBody>
      </p:sp>
      <p:sp>
        <p:nvSpPr>
          <p:cNvPr name="TextBox 9" id="9"/>
          <p:cNvSpPr txBox="true"/>
          <p:nvPr/>
        </p:nvSpPr>
        <p:spPr>
          <a:xfrm rot="0">
            <a:off x="4219105" y="6276784"/>
            <a:ext cx="9849790" cy="597018"/>
          </a:xfrm>
          <a:prstGeom prst="rect">
            <a:avLst/>
          </a:prstGeom>
        </p:spPr>
        <p:txBody>
          <a:bodyPr anchor="t" rtlCol="false" tIns="0" lIns="0" bIns="0" rIns="0">
            <a:spAutoFit/>
          </a:bodyPr>
          <a:lstStyle/>
          <a:p>
            <a:pPr algn="ctr">
              <a:lnSpc>
                <a:spcPts val="4893"/>
              </a:lnSpc>
              <a:spcBef>
                <a:spcPct val="0"/>
              </a:spcBef>
            </a:pPr>
            <a:r>
              <a:rPr lang="en-US" sz="3495" spc="1045">
                <a:solidFill>
                  <a:srgbClr val="FD5BA7"/>
                </a:solidFill>
                <a:latin typeface="Montserrat Classic Bold"/>
              </a:rPr>
              <a:t>“TRAVEL SAFE AND SMART”</a:t>
            </a:r>
          </a:p>
        </p:txBody>
      </p:sp>
      <p:sp>
        <p:nvSpPr>
          <p:cNvPr name="AutoShape 10" id="10"/>
          <p:cNvSpPr/>
          <p:nvPr/>
        </p:nvSpPr>
        <p:spPr>
          <a:xfrm rot="0">
            <a:off x="4171565" y="1743075"/>
            <a:ext cx="9944870" cy="0"/>
          </a:xfrm>
          <a:prstGeom prst="line">
            <a:avLst/>
          </a:prstGeom>
          <a:ln cap="flat" w="28575">
            <a:solidFill>
              <a:srgbClr val="C1005A"/>
            </a:solidFill>
            <a:prstDash val="solid"/>
            <a:headEnd type="none" len="sm" w="sm"/>
            <a:tailEnd type="none" len="sm" w="sm"/>
          </a:ln>
        </p:spPr>
      </p:sp>
      <p:sp>
        <p:nvSpPr>
          <p:cNvPr name="AutoShape 11" id="11"/>
          <p:cNvSpPr/>
          <p:nvPr/>
        </p:nvSpPr>
        <p:spPr>
          <a:xfrm rot="0">
            <a:off x="4219105" y="9229725"/>
            <a:ext cx="9944870" cy="0"/>
          </a:xfrm>
          <a:prstGeom prst="line">
            <a:avLst/>
          </a:prstGeom>
          <a:ln cap="flat" w="28575">
            <a:solidFill>
              <a:srgbClr val="C1005A"/>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2289118" y="2781056"/>
            <a:ext cx="13989828" cy="11191863"/>
          </a:xfrm>
          <a:custGeom>
            <a:avLst/>
            <a:gdLst/>
            <a:ahLst/>
            <a:cxnLst/>
            <a:rect r="r" b="b" t="t" l="l"/>
            <a:pathLst>
              <a:path h="11191863" w="13989828">
                <a:moveTo>
                  <a:pt x="0" y="0"/>
                </a:moveTo>
                <a:lnTo>
                  <a:pt x="13989829" y="0"/>
                </a:lnTo>
                <a:lnTo>
                  <a:pt x="13989829" y="11191863"/>
                </a:lnTo>
                <a:lnTo>
                  <a:pt x="0" y="11191863"/>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950368" y="-1352550"/>
            <a:ext cx="9001125" cy="7200900"/>
          </a:xfrm>
          <a:custGeom>
            <a:avLst/>
            <a:gdLst/>
            <a:ahLst/>
            <a:cxnLst/>
            <a:rect r="r" b="b" t="t" l="l"/>
            <a:pathLst>
              <a:path h="7200900" w="9001125">
                <a:moveTo>
                  <a:pt x="0" y="0"/>
                </a:moveTo>
                <a:lnTo>
                  <a:pt x="9001125" y="0"/>
                </a:lnTo>
                <a:lnTo>
                  <a:pt x="9001125" y="7200900"/>
                </a:lnTo>
                <a:lnTo>
                  <a:pt x="0" y="7200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034210" y="5762625"/>
            <a:ext cx="9001125" cy="7200900"/>
          </a:xfrm>
          <a:custGeom>
            <a:avLst/>
            <a:gdLst/>
            <a:ahLst/>
            <a:cxnLst/>
            <a:rect r="r" b="b" t="t" l="l"/>
            <a:pathLst>
              <a:path h="7200900" w="9001125">
                <a:moveTo>
                  <a:pt x="0" y="0"/>
                </a:moveTo>
                <a:lnTo>
                  <a:pt x="9001125" y="0"/>
                </a:lnTo>
                <a:lnTo>
                  <a:pt x="9001125" y="7200900"/>
                </a:lnTo>
                <a:lnTo>
                  <a:pt x="0" y="7200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4430813" y="990600"/>
            <a:ext cx="3596361" cy="339724"/>
          </a:xfrm>
          <a:prstGeom prst="rect">
            <a:avLst/>
          </a:prstGeom>
        </p:spPr>
        <p:txBody>
          <a:bodyPr anchor="t" rtlCol="false" tIns="0" lIns="0" bIns="0" rIns="0">
            <a:spAutoFit/>
          </a:bodyPr>
          <a:lstStyle/>
          <a:p>
            <a:pPr algn="ctr">
              <a:lnSpc>
                <a:spcPts val="2800"/>
              </a:lnSpc>
              <a:spcBef>
                <a:spcPct val="0"/>
              </a:spcBef>
            </a:pPr>
            <a:r>
              <a:rPr lang="en-US" sz="2000">
                <a:solidFill>
                  <a:srgbClr val="FD5BA7"/>
                </a:solidFill>
                <a:latin typeface="Montserrat Medium"/>
              </a:rPr>
              <a:t>HACKERZ</a:t>
            </a:r>
          </a:p>
        </p:txBody>
      </p:sp>
      <p:sp>
        <p:nvSpPr>
          <p:cNvPr name="TextBox 7" id="7"/>
          <p:cNvSpPr txBox="true"/>
          <p:nvPr/>
        </p:nvSpPr>
        <p:spPr>
          <a:xfrm rot="0">
            <a:off x="9902530" y="990600"/>
            <a:ext cx="3596361" cy="339724"/>
          </a:xfrm>
          <a:prstGeom prst="rect">
            <a:avLst/>
          </a:prstGeom>
        </p:spPr>
        <p:txBody>
          <a:bodyPr anchor="t" rtlCol="false" tIns="0" lIns="0" bIns="0" rIns="0">
            <a:spAutoFit/>
          </a:bodyPr>
          <a:lstStyle/>
          <a:p>
            <a:pPr algn="ctr">
              <a:lnSpc>
                <a:spcPts val="2800"/>
              </a:lnSpc>
              <a:spcBef>
                <a:spcPct val="0"/>
              </a:spcBef>
            </a:pPr>
            <a:r>
              <a:rPr lang="en-US" sz="2000">
                <a:solidFill>
                  <a:srgbClr val="FD5BA7"/>
                </a:solidFill>
                <a:latin typeface="Montserrat Medium"/>
              </a:rPr>
              <a:t>@HACKERZ</a:t>
            </a:r>
          </a:p>
        </p:txBody>
      </p:sp>
      <p:sp>
        <p:nvSpPr>
          <p:cNvPr name="AutoShape 8" id="8"/>
          <p:cNvSpPr/>
          <p:nvPr/>
        </p:nvSpPr>
        <p:spPr>
          <a:xfrm rot="0">
            <a:off x="4171565" y="1743075"/>
            <a:ext cx="9944870" cy="0"/>
          </a:xfrm>
          <a:prstGeom prst="line">
            <a:avLst/>
          </a:prstGeom>
          <a:ln cap="flat" w="28575">
            <a:solidFill>
              <a:srgbClr val="C1005A"/>
            </a:solidFill>
            <a:prstDash val="solid"/>
            <a:headEnd type="none" len="sm" w="sm"/>
            <a:tailEnd type="none" len="sm" w="sm"/>
          </a:ln>
        </p:spPr>
      </p:sp>
      <p:sp>
        <p:nvSpPr>
          <p:cNvPr name="AutoShape 9" id="9"/>
          <p:cNvSpPr/>
          <p:nvPr/>
        </p:nvSpPr>
        <p:spPr>
          <a:xfrm rot="0">
            <a:off x="4219105" y="9229725"/>
            <a:ext cx="9944870" cy="0"/>
          </a:xfrm>
          <a:prstGeom prst="line">
            <a:avLst/>
          </a:prstGeom>
          <a:ln cap="flat" w="28575">
            <a:solidFill>
              <a:srgbClr val="C1005A"/>
            </a:solidFill>
            <a:prstDash val="solid"/>
            <a:headEnd type="none" len="sm" w="sm"/>
            <a:tailEnd type="none" len="sm" w="sm"/>
          </a:ln>
        </p:spPr>
      </p:sp>
      <p:sp>
        <p:nvSpPr>
          <p:cNvPr name="TextBox 10" id="10"/>
          <p:cNvSpPr txBox="true"/>
          <p:nvPr/>
        </p:nvSpPr>
        <p:spPr>
          <a:xfrm rot="0">
            <a:off x="2850099" y="3324180"/>
            <a:ext cx="12682882" cy="1528439"/>
          </a:xfrm>
          <a:prstGeom prst="rect">
            <a:avLst/>
          </a:prstGeom>
        </p:spPr>
        <p:txBody>
          <a:bodyPr anchor="t" rtlCol="false" tIns="0" lIns="0" bIns="0" rIns="0">
            <a:spAutoFit/>
          </a:bodyPr>
          <a:lstStyle/>
          <a:p>
            <a:pPr algn="ctr">
              <a:lnSpc>
                <a:spcPts val="10780"/>
              </a:lnSpc>
              <a:spcBef>
                <a:spcPct val="0"/>
              </a:spcBef>
            </a:pPr>
            <a:r>
              <a:rPr lang="en-US" sz="7700">
                <a:solidFill>
                  <a:srgbClr val="FFFFFF"/>
                </a:solidFill>
                <a:latin typeface="Agrandir Wide Heavy"/>
              </a:rPr>
              <a:t>Problem statement:</a:t>
            </a:r>
          </a:p>
        </p:txBody>
      </p:sp>
      <p:sp>
        <p:nvSpPr>
          <p:cNvPr name="TextBox 11" id="11"/>
          <p:cNvSpPr txBox="true"/>
          <p:nvPr/>
        </p:nvSpPr>
        <p:spPr>
          <a:xfrm rot="0">
            <a:off x="2976473" y="5800725"/>
            <a:ext cx="12335054" cy="850901"/>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Montserrat"/>
              </a:rPr>
              <a:t>Developing an embedded system for smart transpotation, optimising traffic flow and reducing congestion  through real time data anaylisis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4087299" y="4481144"/>
            <a:ext cx="13989828" cy="11191863"/>
          </a:xfrm>
          <a:custGeom>
            <a:avLst/>
            <a:gdLst/>
            <a:ahLst/>
            <a:cxnLst/>
            <a:rect r="r" b="b" t="t" l="l"/>
            <a:pathLst>
              <a:path h="11191863" w="13989828">
                <a:moveTo>
                  <a:pt x="0" y="0"/>
                </a:moveTo>
                <a:lnTo>
                  <a:pt x="13989829" y="0"/>
                </a:lnTo>
                <a:lnTo>
                  <a:pt x="13989829" y="11191863"/>
                </a:lnTo>
                <a:lnTo>
                  <a:pt x="0" y="11191863"/>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950368" y="-1352550"/>
            <a:ext cx="9001125" cy="7200900"/>
          </a:xfrm>
          <a:custGeom>
            <a:avLst/>
            <a:gdLst/>
            <a:ahLst/>
            <a:cxnLst/>
            <a:rect r="r" b="b" t="t" l="l"/>
            <a:pathLst>
              <a:path h="7200900" w="9001125">
                <a:moveTo>
                  <a:pt x="0" y="0"/>
                </a:moveTo>
                <a:lnTo>
                  <a:pt x="9001125" y="0"/>
                </a:lnTo>
                <a:lnTo>
                  <a:pt x="9001125" y="7200900"/>
                </a:lnTo>
                <a:lnTo>
                  <a:pt x="0" y="7200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034210" y="5762625"/>
            <a:ext cx="9001125" cy="7200900"/>
          </a:xfrm>
          <a:custGeom>
            <a:avLst/>
            <a:gdLst/>
            <a:ahLst/>
            <a:cxnLst/>
            <a:rect r="r" b="b" t="t" l="l"/>
            <a:pathLst>
              <a:path h="7200900" w="9001125">
                <a:moveTo>
                  <a:pt x="0" y="0"/>
                </a:moveTo>
                <a:lnTo>
                  <a:pt x="9001125" y="0"/>
                </a:lnTo>
                <a:lnTo>
                  <a:pt x="9001125" y="7200900"/>
                </a:lnTo>
                <a:lnTo>
                  <a:pt x="0" y="7200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4171565" y="1743075"/>
            <a:ext cx="9944870" cy="0"/>
          </a:xfrm>
          <a:prstGeom prst="line">
            <a:avLst/>
          </a:prstGeom>
          <a:ln cap="flat" w="28575">
            <a:solidFill>
              <a:srgbClr val="C1005A"/>
            </a:solidFill>
            <a:prstDash val="solid"/>
            <a:headEnd type="none" len="sm" w="sm"/>
            <a:tailEnd type="none" len="sm" w="sm"/>
          </a:ln>
        </p:spPr>
      </p:sp>
      <p:sp>
        <p:nvSpPr>
          <p:cNvPr name="AutoShape 7" id="7"/>
          <p:cNvSpPr/>
          <p:nvPr/>
        </p:nvSpPr>
        <p:spPr>
          <a:xfrm rot="0">
            <a:off x="4219105" y="9229725"/>
            <a:ext cx="9944870" cy="0"/>
          </a:xfrm>
          <a:prstGeom prst="line">
            <a:avLst/>
          </a:prstGeom>
          <a:ln cap="flat" w="28575">
            <a:solidFill>
              <a:srgbClr val="C1005A"/>
            </a:solidFill>
            <a:prstDash val="solid"/>
            <a:headEnd type="none" len="sm" w="sm"/>
            <a:tailEnd type="none" len="sm" w="sm"/>
          </a:ln>
        </p:spPr>
      </p:sp>
      <p:grpSp>
        <p:nvGrpSpPr>
          <p:cNvPr name="Group 8" id="8"/>
          <p:cNvGrpSpPr/>
          <p:nvPr/>
        </p:nvGrpSpPr>
        <p:grpSpPr>
          <a:xfrm rot="0">
            <a:off x="-2065405" y="1330324"/>
            <a:ext cx="8294399" cy="8294366"/>
            <a:chOff x="0" y="0"/>
            <a:chExt cx="6350000" cy="6349975"/>
          </a:xfrm>
        </p:grpSpPr>
        <p:sp>
          <p:nvSpPr>
            <p:cNvPr name="Freeform 9" id="9"/>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25471" t="0" r="-25471" b="0"/>
              </a:stretch>
            </a:blipFill>
          </p:spPr>
        </p:sp>
      </p:grpSp>
      <p:sp>
        <p:nvSpPr>
          <p:cNvPr name="TextBox 10" id="10"/>
          <p:cNvSpPr txBox="true"/>
          <p:nvPr/>
        </p:nvSpPr>
        <p:spPr>
          <a:xfrm rot="0">
            <a:off x="4430813" y="990600"/>
            <a:ext cx="3596361" cy="339724"/>
          </a:xfrm>
          <a:prstGeom prst="rect">
            <a:avLst/>
          </a:prstGeom>
        </p:spPr>
        <p:txBody>
          <a:bodyPr anchor="t" rtlCol="false" tIns="0" lIns="0" bIns="0" rIns="0">
            <a:spAutoFit/>
          </a:bodyPr>
          <a:lstStyle/>
          <a:p>
            <a:pPr algn="ctr">
              <a:lnSpc>
                <a:spcPts val="2800"/>
              </a:lnSpc>
              <a:spcBef>
                <a:spcPct val="0"/>
              </a:spcBef>
            </a:pPr>
            <a:r>
              <a:rPr lang="en-US" sz="2000">
                <a:solidFill>
                  <a:srgbClr val="FD5BA7"/>
                </a:solidFill>
                <a:latin typeface="Montserrat Medium"/>
              </a:rPr>
              <a:t>HACKERZ</a:t>
            </a:r>
          </a:p>
        </p:txBody>
      </p:sp>
      <p:sp>
        <p:nvSpPr>
          <p:cNvPr name="TextBox 11" id="11"/>
          <p:cNvSpPr txBox="true"/>
          <p:nvPr/>
        </p:nvSpPr>
        <p:spPr>
          <a:xfrm rot="0">
            <a:off x="9902530" y="990600"/>
            <a:ext cx="3596361" cy="339724"/>
          </a:xfrm>
          <a:prstGeom prst="rect">
            <a:avLst/>
          </a:prstGeom>
        </p:spPr>
        <p:txBody>
          <a:bodyPr anchor="t" rtlCol="false" tIns="0" lIns="0" bIns="0" rIns="0">
            <a:spAutoFit/>
          </a:bodyPr>
          <a:lstStyle/>
          <a:p>
            <a:pPr algn="ctr">
              <a:lnSpc>
                <a:spcPts val="2800"/>
              </a:lnSpc>
              <a:spcBef>
                <a:spcPct val="0"/>
              </a:spcBef>
            </a:pPr>
            <a:r>
              <a:rPr lang="en-US" sz="2000">
                <a:solidFill>
                  <a:srgbClr val="FD5BA7"/>
                </a:solidFill>
                <a:latin typeface="Montserrat Medium"/>
              </a:rPr>
              <a:t>@HACKERZ</a:t>
            </a:r>
          </a:p>
        </p:txBody>
      </p:sp>
      <p:sp>
        <p:nvSpPr>
          <p:cNvPr name="TextBox 12" id="12"/>
          <p:cNvSpPr txBox="true"/>
          <p:nvPr/>
        </p:nvSpPr>
        <p:spPr>
          <a:xfrm rot="0">
            <a:off x="6529164" y="3099971"/>
            <a:ext cx="9950421" cy="1528439"/>
          </a:xfrm>
          <a:prstGeom prst="rect">
            <a:avLst/>
          </a:prstGeom>
        </p:spPr>
        <p:txBody>
          <a:bodyPr anchor="t" rtlCol="false" tIns="0" lIns="0" bIns="0" rIns="0">
            <a:spAutoFit/>
          </a:bodyPr>
          <a:lstStyle/>
          <a:p>
            <a:pPr algn="l">
              <a:lnSpc>
                <a:spcPts val="10780"/>
              </a:lnSpc>
              <a:spcBef>
                <a:spcPct val="0"/>
              </a:spcBef>
            </a:pPr>
            <a:r>
              <a:rPr lang="en-US" sz="7700">
                <a:solidFill>
                  <a:srgbClr val="FD5BA7"/>
                </a:solidFill>
                <a:latin typeface="Agrandir"/>
              </a:rPr>
              <a:t>AIM:</a:t>
            </a:r>
          </a:p>
        </p:txBody>
      </p:sp>
      <p:sp>
        <p:nvSpPr>
          <p:cNvPr name="TextBox 13" id="13"/>
          <p:cNvSpPr txBox="true"/>
          <p:nvPr/>
        </p:nvSpPr>
        <p:spPr>
          <a:xfrm rot="0">
            <a:off x="7300602" y="4751017"/>
            <a:ext cx="8115300" cy="850901"/>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Montserrat"/>
              </a:rPr>
              <a:t>Optimization of traffic and reducing real time congestion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4087299" y="4481144"/>
            <a:ext cx="13989828" cy="11191863"/>
          </a:xfrm>
          <a:custGeom>
            <a:avLst/>
            <a:gdLst/>
            <a:ahLst/>
            <a:cxnLst/>
            <a:rect r="r" b="b" t="t" l="l"/>
            <a:pathLst>
              <a:path h="11191863" w="13989828">
                <a:moveTo>
                  <a:pt x="0" y="0"/>
                </a:moveTo>
                <a:lnTo>
                  <a:pt x="13989829" y="0"/>
                </a:lnTo>
                <a:lnTo>
                  <a:pt x="13989829" y="11191863"/>
                </a:lnTo>
                <a:lnTo>
                  <a:pt x="0" y="11191863"/>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950368" y="-1352550"/>
            <a:ext cx="9001125" cy="7200900"/>
          </a:xfrm>
          <a:custGeom>
            <a:avLst/>
            <a:gdLst/>
            <a:ahLst/>
            <a:cxnLst/>
            <a:rect r="r" b="b" t="t" l="l"/>
            <a:pathLst>
              <a:path h="7200900" w="9001125">
                <a:moveTo>
                  <a:pt x="0" y="0"/>
                </a:moveTo>
                <a:lnTo>
                  <a:pt x="9001125" y="0"/>
                </a:lnTo>
                <a:lnTo>
                  <a:pt x="9001125" y="7200900"/>
                </a:lnTo>
                <a:lnTo>
                  <a:pt x="0" y="7200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034210" y="5762625"/>
            <a:ext cx="9001125" cy="7200900"/>
          </a:xfrm>
          <a:custGeom>
            <a:avLst/>
            <a:gdLst/>
            <a:ahLst/>
            <a:cxnLst/>
            <a:rect r="r" b="b" t="t" l="l"/>
            <a:pathLst>
              <a:path h="7200900" w="9001125">
                <a:moveTo>
                  <a:pt x="0" y="0"/>
                </a:moveTo>
                <a:lnTo>
                  <a:pt x="9001125" y="0"/>
                </a:lnTo>
                <a:lnTo>
                  <a:pt x="9001125" y="7200900"/>
                </a:lnTo>
                <a:lnTo>
                  <a:pt x="0" y="7200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4171565" y="1743075"/>
            <a:ext cx="9944870" cy="0"/>
          </a:xfrm>
          <a:prstGeom prst="line">
            <a:avLst/>
          </a:prstGeom>
          <a:ln cap="flat" w="28575">
            <a:solidFill>
              <a:srgbClr val="C1005A"/>
            </a:solidFill>
            <a:prstDash val="solid"/>
            <a:headEnd type="none" len="sm" w="sm"/>
            <a:tailEnd type="none" len="sm" w="sm"/>
          </a:ln>
        </p:spPr>
      </p:sp>
      <p:sp>
        <p:nvSpPr>
          <p:cNvPr name="AutoShape 7" id="7"/>
          <p:cNvSpPr/>
          <p:nvPr/>
        </p:nvSpPr>
        <p:spPr>
          <a:xfrm rot="0">
            <a:off x="4219105" y="9229725"/>
            <a:ext cx="9944870" cy="0"/>
          </a:xfrm>
          <a:prstGeom prst="line">
            <a:avLst/>
          </a:prstGeom>
          <a:ln cap="flat" w="28575">
            <a:solidFill>
              <a:srgbClr val="C1005A"/>
            </a:solidFill>
            <a:prstDash val="solid"/>
            <a:headEnd type="none" len="sm" w="sm"/>
            <a:tailEnd type="none" len="sm" w="sm"/>
          </a:ln>
        </p:spPr>
      </p:sp>
      <p:sp>
        <p:nvSpPr>
          <p:cNvPr name="TextBox 8" id="8"/>
          <p:cNvSpPr txBox="true"/>
          <p:nvPr/>
        </p:nvSpPr>
        <p:spPr>
          <a:xfrm rot="0">
            <a:off x="4430813" y="990600"/>
            <a:ext cx="3596361" cy="339724"/>
          </a:xfrm>
          <a:prstGeom prst="rect">
            <a:avLst/>
          </a:prstGeom>
        </p:spPr>
        <p:txBody>
          <a:bodyPr anchor="t" rtlCol="false" tIns="0" lIns="0" bIns="0" rIns="0">
            <a:spAutoFit/>
          </a:bodyPr>
          <a:lstStyle/>
          <a:p>
            <a:pPr algn="ctr">
              <a:lnSpc>
                <a:spcPts val="2800"/>
              </a:lnSpc>
              <a:spcBef>
                <a:spcPct val="0"/>
              </a:spcBef>
            </a:pPr>
            <a:r>
              <a:rPr lang="en-US" sz="2000">
                <a:solidFill>
                  <a:srgbClr val="FD5BA7"/>
                </a:solidFill>
                <a:latin typeface="Montserrat Medium"/>
              </a:rPr>
              <a:t>HACKERZ</a:t>
            </a:r>
          </a:p>
        </p:txBody>
      </p:sp>
      <p:sp>
        <p:nvSpPr>
          <p:cNvPr name="TextBox 9" id="9"/>
          <p:cNvSpPr txBox="true"/>
          <p:nvPr/>
        </p:nvSpPr>
        <p:spPr>
          <a:xfrm rot="0">
            <a:off x="9902530" y="990600"/>
            <a:ext cx="3596361" cy="339724"/>
          </a:xfrm>
          <a:prstGeom prst="rect">
            <a:avLst/>
          </a:prstGeom>
        </p:spPr>
        <p:txBody>
          <a:bodyPr anchor="t" rtlCol="false" tIns="0" lIns="0" bIns="0" rIns="0">
            <a:spAutoFit/>
          </a:bodyPr>
          <a:lstStyle/>
          <a:p>
            <a:pPr algn="ctr">
              <a:lnSpc>
                <a:spcPts val="2800"/>
              </a:lnSpc>
              <a:spcBef>
                <a:spcPct val="0"/>
              </a:spcBef>
            </a:pPr>
            <a:r>
              <a:rPr lang="en-US" sz="2000">
                <a:solidFill>
                  <a:srgbClr val="FD5BA7"/>
                </a:solidFill>
                <a:latin typeface="Montserrat Medium"/>
              </a:rPr>
              <a:t>@HACKERZ</a:t>
            </a:r>
          </a:p>
        </p:txBody>
      </p:sp>
      <p:sp>
        <p:nvSpPr>
          <p:cNvPr name="TextBox 10" id="10"/>
          <p:cNvSpPr txBox="true"/>
          <p:nvPr/>
        </p:nvSpPr>
        <p:spPr>
          <a:xfrm rot="0">
            <a:off x="2759089" y="3449903"/>
            <a:ext cx="12769821" cy="1767206"/>
          </a:xfrm>
          <a:prstGeom prst="rect">
            <a:avLst/>
          </a:prstGeom>
        </p:spPr>
        <p:txBody>
          <a:bodyPr anchor="t" rtlCol="false" tIns="0" lIns="0" bIns="0" rIns="0">
            <a:spAutoFit/>
          </a:bodyPr>
          <a:lstStyle/>
          <a:p>
            <a:pPr algn="ctr">
              <a:lnSpc>
                <a:spcPts val="12319"/>
              </a:lnSpc>
              <a:spcBef>
                <a:spcPct val="0"/>
              </a:spcBef>
            </a:pPr>
            <a:r>
              <a:rPr lang="en-US" sz="8799">
                <a:solidFill>
                  <a:srgbClr val="FFFFFF"/>
                </a:solidFill>
                <a:latin typeface="Agrandir Wide Heavy"/>
              </a:rPr>
              <a:t>ADVANTAGES </a:t>
            </a:r>
          </a:p>
        </p:txBody>
      </p:sp>
      <p:sp>
        <p:nvSpPr>
          <p:cNvPr name="TextBox 11" id="11"/>
          <p:cNvSpPr txBox="true"/>
          <p:nvPr/>
        </p:nvSpPr>
        <p:spPr>
          <a:xfrm rot="0">
            <a:off x="3033648" y="5724525"/>
            <a:ext cx="12220705" cy="3041651"/>
          </a:xfrm>
          <a:prstGeom prst="rect">
            <a:avLst/>
          </a:prstGeom>
        </p:spPr>
        <p:txBody>
          <a:bodyPr anchor="t" rtlCol="false" tIns="0" lIns="0" bIns="0" rIns="0">
            <a:spAutoFit/>
          </a:bodyPr>
          <a:lstStyle/>
          <a:p>
            <a:pPr algn="ctr">
              <a:lnSpc>
                <a:spcPts val="3499"/>
              </a:lnSpc>
            </a:pPr>
            <a:r>
              <a:rPr lang="en-US" sz="2499">
                <a:solidFill>
                  <a:srgbClr val="FFFFFF"/>
                </a:solidFill>
                <a:latin typeface="Montserrat"/>
              </a:rPr>
              <a:t>1.Count based traffic control (not time based)</a:t>
            </a:r>
          </a:p>
          <a:p>
            <a:pPr algn="ctr">
              <a:lnSpc>
                <a:spcPts val="3499"/>
              </a:lnSpc>
            </a:pPr>
            <a:r>
              <a:rPr lang="en-US" sz="2499">
                <a:solidFill>
                  <a:srgbClr val="FFFFFF"/>
                </a:solidFill>
                <a:latin typeface="Montserrat"/>
              </a:rPr>
              <a:t>2.Efficient use of iot to monitor traffic rules</a:t>
            </a:r>
          </a:p>
          <a:p>
            <a:pPr algn="ctr">
              <a:lnSpc>
                <a:spcPts val="3499"/>
              </a:lnSpc>
            </a:pPr>
            <a:r>
              <a:rPr lang="en-US" sz="2499">
                <a:solidFill>
                  <a:srgbClr val="FFFFFF"/>
                </a:solidFill>
                <a:latin typeface="Montserrat"/>
              </a:rPr>
              <a:t>3.Automated  EChallan system </a:t>
            </a:r>
          </a:p>
          <a:p>
            <a:pPr algn="ctr">
              <a:lnSpc>
                <a:spcPts val="3499"/>
              </a:lnSpc>
            </a:pPr>
            <a:r>
              <a:rPr lang="en-US" sz="2499">
                <a:solidFill>
                  <a:srgbClr val="FFFFFF"/>
                </a:solidFill>
                <a:latin typeface="Montserrat"/>
              </a:rPr>
              <a:t>4.Lane jump and speed liit detection</a:t>
            </a:r>
          </a:p>
          <a:p>
            <a:pPr algn="ctr">
              <a:lnSpc>
                <a:spcPts val="3499"/>
              </a:lnSpc>
            </a:pPr>
            <a:r>
              <a:rPr lang="en-US" sz="2499">
                <a:solidFill>
                  <a:srgbClr val="FFFFFF"/>
                </a:solidFill>
                <a:latin typeface="Montserrat"/>
              </a:rPr>
              <a:t>5. User friendly services to pay  challan or get updates.</a:t>
            </a:r>
          </a:p>
          <a:p>
            <a:pPr algn="ctr">
              <a:lnSpc>
                <a:spcPts val="3499"/>
              </a:lnSpc>
            </a:pPr>
            <a:r>
              <a:rPr lang="en-US" sz="2499">
                <a:solidFill>
                  <a:srgbClr val="FFFFFF"/>
                </a:solidFill>
                <a:latin typeface="Montserrat"/>
              </a:rPr>
              <a:t>6. Use of new CNN tech to administer.</a:t>
            </a:r>
          </a:p>
          <a:p>
            <a:pPr algn="ctr">
              <a:lnSpc>
                <a:spcPts val="3499"/>
              </a:lnSpc>
              <a:spcBef>
                <a:spcPct val="0"/>
              </a:spcBef>
            </a:pPr>
            <a:r>
              <a:rPr lang="en-US" sz="2499">
                <a:solidFill>
                  <a:srgbClr val="FFFFFF"/>
                </a:solidFill>
                <a:latin typeface="Montserrat"/>
              </a:rPr>
              <a:t> 7. Priority to emergency vehicles.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4087299" y="4481144"/>
            <a:ext cx="13989828" cy="11191863"/>
          </a:xfrm>
          <a:custGeom>
            <a:avLst/>
            <a:gdLst/>
            <a:ahLst/>
            <a:cxnLst/>
            <a:rect r="r" b="b" t="t" l="l"/>
            <a:pathLst>
              <a:path h="11191863" w="13989828">
                <a:moveTo>
                  <a:pt x="0" y="0"/>
                </a:moveTo>
                <a:lnTo>
                  <a:pt x="13989829" y="0"/>
                </a:lnTo>
                <a:lnTo>
                  <a:pt x="13989829" y="11191863"/>
                </a:lnTo>
                <a:lnTo>
                  <a:pt x="0" y="11191863"/>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950368" y="-1352550"/>
            <a:ext cx="9001125" cy="7200900"/>
          </a:xfrm>
          <a:custGeom>
            <a:avLst/>
            <a:gdLst/>
            <a:ahLst/>
            <a:cxnLst/>
            <a:rect r="r" b="b" t="t" l="l"/>
            <a:pathLst>
              <a:path h="7200900" w="9001125">
                <a:moveTo>
                  <a:pt x="0" y="0"/>
                </a:moveTo>
                <a:lnTo>
                  <a:pt x="9001125" y="0"/>
                </a:lnTo>
                <a:lnTo>
                  <a:pt x="9001125" y="7200900"/>
                </a:lnTo>
                <a:lnTo>
                  <a:pt x="0" y="7200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034210" y="5762625"/>
            <a:ext cx="9001125" cy="7200900"/>
          </a:xfrm>
          <a:custGeom>
            <a:avLst/>
            <a:gdLst/>
            <a:ahLst/>
            <a:cxnLst/>
            <a:rect r="r" b="b" t="t" l="l"/>
            <a:pathLst>
              <a:path h="7200900" w="9001125">
                <a:moveTo>
                  <a:pt x="0" y="0"/>
                </a:moveTo>
                <a:lnTo>
                  <a:pt x="9001125" y="0"/>
                </a:lnTo>
                <a:lnTo>
                  <a:pt x="9001125" y="7200900"/>
                </a:lnTo>
                <a:lnTo>
                  <a:pt x="0" y="72009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rot="0">
            <a:off x="4171565" y="1743075"/>
            <a:ext cx="9944870" cy="0"/>
          </a:xfrm>
          <a:prstGeom prst="line">
            <a:avLst/>
          </a:prstGeom>
          <a:ln cap="flat" w="28575">
            <a:solidFill>
              <a:srgbClr val="C1005A"/>
            </a:solidFill>
            <a:prstDash val="solid"/>
            <a:headEnd type="none" len="sm" w="sm"/>
            <a:tailEnd type="none" len="sm" w="sm"/>
          </a:ln>
        </p:spPr>
      </p:sp>
      <p:sp>
        <p:nvSpPr>
          <p:cNvPr name="AutoShape 7" id="7"/>
          <p:cNvSpPr/>
          <p:nvPr/>
        </p:nvSpPr>
        <p:spPr>
          <a:xfrm rot="0">
            <a:off x="4219105" y="9229725"/>
            <a:ext cx="9944870" cy="0"/>
          </a:xfrm>
          <a:prstGeom prst="line">
            <a:avLst/>
          </a:prstGeom>
          <a:ln cap="flat" w="28575">
            <a:solidFill>
              <a:srgbClr val="C1005A"/>
            </a:solidFill>
            <a:prstDash val="solid"/>
            <a:headEnd type="none" len="sm" w="sm"/>
            <a:tailEnd type="none" len="sm" w="sm"/>
          </a:ln>
        </p:spPr>
      </p:sp>
      <p:sp>
        <p:nvSpPr>
          <p:cNvPr name="TextBox 8" id="8"/>
          <p:cNvSpPr txBox="true"/>
          <p:nvPr/>
        </p:nvSpPr>
        <p:spPr>
          <a:xfrm rot="0">
            <a:off x="4430813" y="990600"/>
            <a:ext cx="3596361" cy="339724"/>
          </a:xfrm>
          <a:prstGeom prst="rect">
            <a:avLst/>
          </a:prstGeom>
        </p:spPr>
        <p:txBody>
          <a:bodyPr anchor="t" rtlCol="false" tIns="0" lIns="0" bIns="0" rIns="0">
            <a:spAutoFit/>
          </a:bodyPr>
          <a:lstStyle/>
          <a:p>
            <a:pPr algn="ctr">
              <a:lnSpc>
                <a:spcPts val="2800"/>
              </a:lnSpc>
              <a:spcBef>
                <a:spcPct val="0"/>
              </a:spcBef>
            </a:pPr>
            <a:r>
              <a:rPr lang="en-US" sz="2000">
                <a:solidFill>
                  <a:srgbClr val="FD5BA7"/>
                </a:solidFill>
                <a:latin typeface="Montserrat Medium"/>
              </a:rPr>
              <a:t>HACKERZ</a:t>
            </a:r>
          </a:p>
        </p:txBody>
      </p:sp>
      <p:sp>
        <p:nvSpPr>
          <p:cNvPr name="TextBox 9" id="9"/>
          <p:cNvSpPr txBox="true"/>
          <p:nvPr/>
        </p:nvSpPr>
        <p:spPr>
          <a:xfrm rot="0">
            <a:off x="9902530" y="990600"/>
            <a:ext cx="3596361" cy="339724"/>
          </a:xfrm>
          <a:prstGeom prst="rect">
            <a:avLst/>
          </a:prstGeom>
        </p:spPr>
        <p:txBody>
          <a:bodyPr anchor="t" rtlCol="false" tIns="0" lIns="0" bIns="0" rIns="0">
            <a:spAutoFit/>
          </a:bodyPr>
          <a:lstStyle/>
          <a:p>
            <a:pPr algn="ctr">
              <a:lnSpc>
                <a:spcPts val="2800"/>
              </a:lnSpc>
              <a:spcBef>
                <a:spcPct val="0"/>
              </a:spcBef>
            </a:pPr>
            <a:r>
              <a:rPr lang="en-US" sz="2000">
                <a:solidFill>
                  <a:srgbClr val="FD5BA7"/>
                </a:solidFill>
                <a:latin typeface="Montserrat Medium"/>
              </a:rPr>
              <a:t>@HACKERZ</a:t>
            </a:r>
          </a:p>
        </p:txBody>
      </p:sp>
      <p:sp>
        <p:nvSpPr>
          <p:cNvPr name="TextBox 10" id="10"/>
          <p:cNvSpPr txBox="true"/>
          <p:nvPr/>
        </p:nvSpPr>
        <p:spPr>
          <a:xfrm rot="0">
            <a:off x="2759089" y="3449903"/>
            <a:ext cx="12769821" cy="1767206"/>
          </a:xfrm>
          <a:prstGeom prst="rect">
            <a:avLst/>
          </a:prstGeom>
        </p:spPr>
        <p:txBody>
          <a:bodyPr anchor="t" rtlCol="false" tIns="0" lIns="0" bIns="0" rIns="0">
            <a:spAutoFit/>
          </a:bodyPr>
          <a:lstStyle/>
          <a:p>
            <a:pPr algn="ctr">
              <a:lnSpc>
                <a:spcPts val="12319"/>
              </a:lnSpc>
              <a:spcBef>
                <a:spcPct val="0"/>
              </a:spcBef>
            </a:pPr>
            <a:r>
              <a:rPr lang="en-US" sz="8799">
                <a:solidFill>
                  <a:srgbClr val="FFFFFF"/>
                </a:solidFill>
                <a:latin typeface="Agrandir Wide Heavy"/>
              </a:rPr>
              <a:t>APPROACH:</a:t>
            </a:r>
          </a:p>
        </p:txBody>
      </p:sp>
      <p:sp>
        <p:nvSpPr>
          <p:cNvPr name="TextBox 11" id="11"/>
          <p:cNvSpPr txBox="true"/>
          <p:nvPr/>
        </p:nvSpPr>
        <p:spPr>
          <a:xfrm rot="0">
            <a:off x="3033648" y="5724525"/>
            <a:ext cx="12220705" cy="2603501"/>
          </a:xfrm>
          <a:prstGeom prst="rect">
            <a:avLst/>
          </a:prstGeom>
        </p:spPr>
        <p:txBody>
          <a:bodyPr anchor="t" rtlCol="false" tIns="0" lIns="0" bIns="0" rIns="0">
            <a:spAutoFit/>
          </a:bodyPr>
          <a:lstStyle/>
          <a:p>
            <a:pPr algn="ctr">
              <a:lnSpc>
                <a:spcPts val="3499"/>
              </a:lnSpc>
            </a:pPr>
            <a:r>
              <a:rPr lang="en-US" sz="2499">
                <a:solidFill>
                  <a:srgbClr val="FFFFFF"/>
                </a:solidFill>
                <a:latin typeface="Montserrat"/>
              </a:rPr>
              <a:t>Our project is based on CNN algorithm which uses smart image detection, which breaks on the video into frames to get more accurate details and all the web data will be available in the user-friendly website for easy challan payment details and vehical status and a general report </a:t>
            </a:r>
          </a:p>
          <a:p>
            <a:pPr algn="ctr">
              <a:lnSpc>
                <a:spcPts val="3499"/>
              </a:lnSpc>
              <a:spcBef>
                <a:spcPct val="0"/>
              </a:spcBef>
            </a:pPr>
            <a:r>
              <a:rPr lang="en-US" sz="2499">
                <a:solidFill>
                  <a:srgbClr val="FFFFFF"/>
                </a:solidFill>
                <a:latin typeface="Montserrat"/>
              </a:rPr>
              <a:t> we also make use of autonomous integration with government websites to gather website data efficiently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DAGFic4CmqU</dc:identifier>
  <dcterms:modified xsi:type="dcterms:W3CDTF">2011-08-01T06:04:30Z</dcterms:modified>
  <cp:revision>1</cp:revision>
  <dc:title>Prayas:</dc:title>
</cp:coreProperties>
</file>